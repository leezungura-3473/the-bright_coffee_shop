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62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[Book2]Sheet2!PivotTable1</c:name>
    <c:fmtId val="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Sum of revenue_per_day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Sheet2!$A$2:$A$24</c:f>
              <c:multiLvlStrCache>
                <c:ptCount val="14"/>
                <c:lvl>
                  <c:pt idx="0">
                    <c:v>1/1/2023</c:v>
                  </c:pt>
                  <c:pt idx="1">
                    <c:v>1/8/2023</c:v>
                  </c:pt>
                  <c:pt idx="2">
                    <c:v>1/2/2023</c:v>
                  </c:pt>
                  <c:pt idx="3">
                    <c:v>1/9/2023</c:v>
                  </c:pt>
                  <c:pt idx="4">
                    <c:v>1/3/2023</c:v>
                  </c:pt>
                  <c:pt idx="5">
                    <c:v>1/10/2023</c:v>
                  </c:pt>
                  <c:pt idx="6">
                    <c:v>1/4/2023</c:v>
                  </c:pt>
                  <c:pt idx="7">
                    <c:v>1/11/2023</c:v>
                  </c:pt>
                  <c:pt idx="8">
                    <c:v>1/5/2023</c:v>
                  </c:pt>
                  <c:pt idx="9">
                    <c:v>1/12/2023</c:v>
                  </c:pt>
                  <c:pt idx="10">
                    <c:v>1/6/2023</c:v>
                  </c:pt>
                  <c:pt idx="11">
                    <c:v>1/13/2023</c:v>
                  </c:pt>
                  <c:pt idx="12">
                    <c:v>1/7/2023</c:v>
                  </c:pt>
                  <c:pt idx="13">
                    <c:v>1/14/2023</c:v>
                  </c:pt>
                </c:lvl>
                <c:lvl>
                  <c:pt idx="0">
                    <c:v>Sun</c:v>
                  </c:pt>
                  <c:pt idx="2">
                    <c:v>Mon</c:v>
                  </c:pt>
                  <c:pt idx="4">
                    <c:v>Tue</c:v>
                  </c:pt>
                  <c:pt idx="6">
                    <c:v>Wed</c:v>
                  </c:pt>
                  <c:pt idx="8">
                    <c:v>Thu</c:v>
                  </c:pt>
                  <c:pt idx="10">
                    <c:v>Fri</c:v>
                  </c:pt>
                  <c:pt idx="12">
                    <c:v>Sat</c:v>
                  </c:pt>
                </c:lvl>
                <c:lvl>
                  <c:pt idx="0">
                    <c:v>Jan</c:v>
                  </c:pt>
                </c:lvl>
              </c:multiLvlStrCache>
            </c:multiLvlStrRef>
          </c:cat>
          <c:val>
            <c:numRef>
              <c:f>Sheet2!$B$2:$B$24</c:f>
              <c:numCache>
                <c:formatCode>General</c:formatCode>
                <c:ptCount val="14"/>
                <c:pt idx="0">
                  <c:v>2508.1999999999998</c:v>
                </c:pt>
                <c:pt idx="1">
                  <c:v>2638.5299999999902</c:v>
                </c:pt>
                <c:pt idx="2">
                  <c:v>2403.35</c:v>
                </c:pt>
                <c:pt idx="3">
                  <c:v>2676.6099999999901</c:v>
                </c:pt>
                <c:pt idx="4">
                  <c:v>2565</c:v>
                </c:pt>
                <c:pt idx="5">
                  <c:v>2685.6499999999901</c:v>
                </c:pt>
                <c:pt idx="6">
                  <c:v>2220.1</c:v>
                </c:pt>
                <c:pt idx="7">
                  <c:v>2555.74999999999</c:v>
                </c:pt>
                <c:pt idx="8">
                  <c:v>2418.85</c:v>
                </c:pt>
                <c:pt idx="9">
                  <c:v>2327.6999999999898</c:v>
                </c:pt>
                <c:pt idx="10">
                  <c:v>2273.85</c:v>
                </c:pt>
                <c:pt idx="11">
                  <c:v>3033.5999999999899</c:v>
                </c:pt>
                <c:pt idx="12">
                  <c:v>2619.6499999999901</c:v>
                </c:pt>
                <c:pt idx="13">
                  <c:v>2682.5099999999902</c:v>
                </c:pt>
              </c:numCache>
            </c:numRef>
          </c:val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Sum of Number_of_sales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Sheet2!$A$2:$A$24</c:f>
              <c:multiLvlStrCache>
                <c:ptCount val="14"/>
                <c:lvl>
                  <c:pt idx="0">
                    <c:v>1/1/2023</c:v>
                  </c:pt>
                  <c:pt idx="1">
                    <c:v>1/8/2023</c:v>
                  </c:pt>
                  <c:pt idx="2">
                    <c:v>1/2/2023</c:v>
                  </c:pt>
                  <c:pt idx="3">
                    <c:v>1/9/2023</c:v>
                  </c:pt>
                  <c:pt idx="4">
                    <c:v>1/3/2023</c:v>
                  </c:pt>
                  <c:pt idx="5">
                    <c:v>1/10/2023</c:v>
                  </c:pt>
                  <c:pt idx="6">
                    <c:v>1/4/2023</c:v>
                  </c:pt>
                  <c:pt idx="7">
                    <c:v>1/11/2023</c:v>
                  </c:pt>
                  <c:pt idx="8">
                    <c:v>1/5/2023</c:v>
                  </c:pt>
                  <c:pt idx="9">
                    <c:v>1/12/2023</c:v>
                  </c:pt>
                  <c:pt idx="10">
                    <c:v>1/6/2023</c:v>
                  </c:pt>
                  <c:pt idx="11">
                    <c:v>1/13/2023</c:v>
                  </c:pt>
                  <c:pt idx="12">
                    <c:v>1/7/2023</c:v>
                  </c:pt>
                  <c:pt idx="13">
                    <c:v>1/14/2023</c:v>
                  </c:pt>
                </c:lvl>
                <c:lvl>
                  <c:pt idx="0">
                    <c:v>Sun</c:v>
                  </c:pt>
                  <c:pt idx="2">
                    <c:v>Mon</c:v>
                  </c:pt>
                  <c:pt idx="4">
                    <c:v>Tue</c:v>
                  </c:pt>
                  <c:pt idx="6">
                    <c:v>Wed</c:v>
                  </c:pt>
                  <c:pt idx="8">
                    <c:v>Thu</c:v>
                  </c:pt>
                  <c:pt idx="10">
                    <c:v>Fri</c:v>
                  </c:pt>
                  <c:pt idx="12">
                    <c:v>Sat</c:v>
                  </c:pt>
                </c:lvl>
                <c:lvl>
                  <c:pt idx="0">
                    <c:v>Jan</c:v>
                  </c:pt>
                </c:lvl>
              </c:multiLvlStrCache>
            </c:multiLvlStrRef>
          </c:cat>
          <c:val>
            <c:numRef>
              <c:f>Sheet2!$C$2:$C$24</c:f>
              <c:numCache>
                <c:formatCode>General</c:formatCode>
                <c:ptCount val="14"/>
                <c:pt idx="0">
                  <c:v>550</c:v>
                </c:pt>
                <c:pt idx="1">
                  <c:v>562</c:v>
                </c:pt>
                <c:pt idx="2">
                  <c:v>566</c:v>
                </c:pt>
                <c:pt idx="3">
                  <c:v>551</c:v>
                </c:pt>
                <c:pt idx="4">
                  <c:v>582</c:v>
                </c:pt>
                <c:pt idx="5">
                  <c:v>602</c:v>
                </c:pt>
                <c:pt idx="6">
                  <c:v>497</c:v>
                </c:pt>
                <c:pt idx="7">
                  <c:v>561</c:v>
                </c:pt>
                <c:pt idx="8">
                  <c:v>547</c:v>
                </c:pt>
                <c:pt idx="9">
                  <c:v>534</c:v>
                </c:pt>
                <c:pt idx="10">
                  <c:v>509</c:v>
                </c:pt>
                <c:pt idx="11">
                  <c:v>625</c:v>
                </c:pt>
                <c:pt idx="12">
                  <c:v>562</c:v>
                </c:pt>
                <c:pt idx="13">
                  <c:v>577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0663928"/>
        <c:axId val="260667064"/>
      </c:barChart>
      <c:catAx>
        <c:axId val="260663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0667064"/>
        <c:crosses val="autoZero"/>
        <c:auto val="1"/>
        <c:lblAlgn val="ctr"/>
        <c:lblOffset val="100"/>
        <c:noMultiLvlLbl val="0"/>
      </c:catAx>
      <c:valAx>
        <c:axId val="260667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0663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Bright_Coffee_Shop_30_Day</a:t>
            </a:r>
            <a:r>
              <a:rPr lang="en-US" baseline="0"/>
              <a:t>_Sales_Analysis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Month_name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val>
            <c:numRef>
              <c:f>Sheet1!$C$2:$C$31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Number_of_sales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val>
            <c:numRef>
              <c:f>Sheet1!$D$2:$D$31</c:f>
              <c:numCache>
                <c:formatCode>General</c:formatCode>
                <c:ptCount val="30"/>
                <c:pt idx="0">
                  <c:v>550</c:v>
                </c:pt>
                <c:pt idx="1">
                  <c:v>566</c:v>
                </c:pt>
                <c:pt idx="2">
                  <c:v>582</c:v>
                </c:pt>
                <c:pt idx="3">
                  <c:v>497</c:v>
                </c:pt>
                <c:pt idx="4">
                  <c:v>547</c:v>
                </c:pt>
                <c:pt idx="5">
                  <c:v>509</c:v>
                </c:pt>
                <c:pt idx="6">
                  <c:v>562</c:v>
                </c:pt>
                <c:pt idx="7">
                  <c:v>562</c:v>
                </c:pt>
                <c:pt idx="8">
                  <c:v>551</c:v>
                </c:pt>
                <c:pt idx="9">
                  <c:v>602</c:v>
                </c:pt>
                <c:pt idx="10">
                  <c:v>561</c:v>
                </c:pt>
                <c:pt idx="11">
                  <c:v>534</c:v>
                </c:pt>
                <c:pt idx="12">
                  <c:v>625</c:v>
                </c:pt>
                <c:pt idx="13">
                  <c:v>577</c:v>
                </c:pt>
                <c:pt idx="14">
                  <c:v>663</c:v>
                </c:pt>
                <c:pt idx="15">
                  <c:v>627</c:v>
                </c:pt>
                <c:pt idx="16">
                  <c:v>532</c:v>
                </c:pt>
                <c:pt idx="17">
                  <c:v>588</c:v>
                </c:pt>
                <c:pt idx="18">
                  <c:v>616</c:v>
                </c:pt>
                <c:pt idx="19">
                  <c:v>578</c:v>
                </c:pt>
                <c:pt idx="20">
                  <c:v>597</c:v>
                </c:pt>
                <c:pt idx="21">
                  <c:v>491</c:v>
                </c:pt>
                <c:pt idx="22">
                  <c:v>589</c:v>
                </c:pt>
                <c:pt idx="23">
                  <c:v>588</c:v>
                </c:pt>
                <c:pt idx="24">
                  <c:v>583</c:v>
                </c:pt>
                <c:pt idx="25">
                  <c:v>586</c:v>
                </c:pt>
                <c:pt idx="26">
                  <c:v>579</c:v>
                </c:pt>
                <c:pt idx="27">
                  <c:v>470</c:v>
                </c:pt>
                <c:pt idx="28">
                  <c:v>459</c:v>
                </c:pt>
              </c:numCache>
            </c:numRef>
          </c:val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revenue_per_day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val>
            <c:numRef>
              <c:f>Sheet1!$E$2:$E$31</c:f>
              <c:numCache>
                <c:formatCode>General</c:formatCode>
                <c:ptCount val="30"/>
                <c:pt idx="0">
                  <c:v>2508.1999999999998</c:v>
                </c:pt>
                <c:pt idx="1">
                  <c:v>2403.35</c:v>
                </c:pt>
                <c:pt idx="2">
                  <c:v>2565</c:v>
                </c:pt>
                <c:pt idx="3">
                  <c:v>2220.1</c:v>
                </c:pt>
                <c:pt idx="4">
                  <c:v>2418.85</c:v>
                </c:pt>
                <c:pt idx="5">
                  <c:v>2273.85</c:v>
                </c:pt>
                <c:pt idx="6">
                  <c:v>2619.6499999999901</c:v>
                </c:pt>
                <c:pt idx="7">
                  <c:v>2638.5299999999902</c:v>
                </c:pt>
                <c:pt idx="8">
                  <c:v>2676.6099999999901</c:v>
                </c:pt>
                <c:pt idx="9">
                  <c:v>2685.6499999999901</c:v>
                </c:pt>
                <c:pt idx="10">
                  <c:v>2555.74999999999</c:v>
                </c:pt>
                <c:pt idx="11">
                  <c:v>2327.6999999999898</c:v>
                </c:pt>
                <c:pt idx="12">
                  <c:v>3033.5999999999899</c:v>
                </c:pt>
                <c:pt idx="13">
                  <c:v>2682.5099999999902</c:v>
                </c:pt>
                <c:pt idx="14">
                  <c:v>3167.70999999999</c:v>
                </c:pt>
                <c:pt idx="15">
                  <c:v>2829.1599999999899</c:v>
                </c:pt>
                <c:pt idx="16">
                  <c:v>3285.7999999999902</c:v>
                </c:pt>
                <c:pt idx="17">
                  <c:v>2735.95999999999</c:v>
                </c:pt>
                <c:pt idx="18">
                  <c:v>2913.6799999999898</c:v>
                </c:pt>
                <c:pt idx="19">
                  <c:v>2603.72999999999</c:v>
                </c:pt>
                <c:pt idx="20">
                  <c:v>3082.8499999999899</c:v>
                </c:pt>
                <c:pt idx="21">
                  <c:v>2367.3299999999899</c:v>
                </c:pt>
                <c:pt idx="22">
                  <c:v>2853.1499999999901</c:v>
                </c:pt>
                <c:pt idx="23">
                  <c:v>2868.9499999999898</c:v>
                </c:pt>
                <c:pt idx="24">
                  <c:v>2846.5499999999902</c:v>
                </c:pt>
                <c:pt idx="25">
                  <c:v>2863.0299999999902</c:v>
                </c:pt>
                <c:pt idx="26">
                  <c:v>2742.0999999999899</c:v>
                </c:pt>
                <c:pt idx="27">
                  <c:v>2037.1</c:v>
                </c:pt>
                <c:pt idx="28">
                  <c:v>2060.75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57127648"/>
        <c:axId val="257125688"/>
        <c:axId val="320935488"/>
      </c:bar3DChart>
      <c:catAx>
        <c:axId val="25712764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7125688"/>
        <c:crosses val="autoZero"/>
        <c:auto val="1"/>
        <c:lblAlgn val="ctr"/>
        <c:lblOffset val="100"/>
        <c:noMultiLvlLbl val="0"/>
      </c:catAx>
      <c:valAx>
        <c:axId val="257125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7127648"/>
        <c:crosses val="autoZero"/>
        <c:crossBetween val="between"/>
      </c:valAx>
      <c:serAx>
        <c:axId val="3209354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7125688"/>
        <c:crosses val="autoZero"/>
      </c:ser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81944" y="1871131"/>
            <a:ext cx="7328262" cy="1515533"/>
          </a:xfrm>
        </p:spPr>
        <p:txBody>
          <a:bodyPr/>
          <a:lstStyle/>
          <a:p>
            <a:r>
              <a:rPr lang="en-US" dirty="0" err="1" smtClean="0"/>
              <a:t>The_Bright_Coffee_Shop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Sales Analysis Presentation By LISA ZUNGURA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636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Bright_Coffee_Shop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Bright Coffee shop sales have shown a stable fluctuation. </a:t>
            </a:r>
          </a:p>
          <a:p>
            <a:r>
              <a:rPr lang="en-US" dirty="0" smtClean="0"/>
              <a:t>There are not intense downfall in the sales in January</a:t>
            </a:r>
          </a:p>
          <a:p>
            <a:r>
              <a:rPr lang="en-US" dirty="0" smtClean="0"/>
              <a:t>Seems that January is a good month and people do buy coffe</a:t>
            </a:r>
            <a:r>
              <a:rPr lang="en-US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4245680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First_Week_Sales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645421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57219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week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Friday 1/13/2023 had the most coffee sales. </a:t>
            </a:r>
            <a:endParaRPr lang="en-US" dirty="0"/>
          </a:p>
          <a:p>
            <a:r>
              <a:rPr lang="en-US" dirty="0" smtClean="0"/>
              <a:t>1/4/2023 had the least sales in the first week.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342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Shows sales fluctuations in the month of January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8317613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745035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27</TotalTime>
  <Words>72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Organic</vt:lpstr>
      <vt:lpstr>The_Bright_Coffee_Shop</vt:lpstr>
      <vt:lpstr>Bright_Coffee_Shop</vt:lpstr>
      <vt:lpstr>First_Week_Sales</vt:lpstr>
      <vt:lpstr>First week analysis</vt:lpstr>
      <vt:lpstr>Shows sales fluctuations in the month of January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The_Bright_Coffee_Shop</dc:title>
  <dc:creator>Microsoft account</dc:creator>
  <cp:lastModifiedBy>Microsoft account</cp:lastModifiedBy>
  <cp:revision>4</cp:revision>
  <dcterms:created xsi:type="dcterms:W3CDTF">2026-03-31T18:33:29Z</dcterms:created>
  <dcterms:modified xsi:type="dcterms:W3CDTF">2026-03-31T19:01:22Z</dcterms:modified>
</cp:coreProperties>
</file>